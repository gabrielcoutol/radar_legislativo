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53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4304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Apresentação do grupo. Bússola Pública é um pipeline que unifica dados públicos dispersos. Uma frase: damos direção a dados públicos.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dados públicos existem, mas estão espalhados em dezenas de portais com formatos diferentes. Cruzar essa informação é lento e técnico. Quem sofre: cidadãos, jornalistas e gestores.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pipeline ETL automatizado com n8n, que roda uma vez por semana. Extração de portais/APIs/CSVs, transformação em Python+pandas, carga via SQLAlchemy no PostgreSQL, visualização em dashboard e relatório no Telegram. Diferencial: tudo automático.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os prints reais: banco populado, relatório no Telegram, fluxo do n8n. Os números provam que funciona: 5 fontes, mais de 400 mil registros, atualização semanal.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Roadmap: ampliar fontes de dados, abrir API pública com alertas automáticos, e monitorar a qualidade dos dados de forma contínua.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Fecho forte: transparência acessível gera valor para cidadãos, jornalismo de dados e gestão pública. A visão é evoluir de um pipeline para uma plataforma pública de dados confiáveis.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99" cy="10287000"/>
          </a:xfrm>
          <a:prstGeom prst="rect">
            <a:avLst/>
          </a:prstGeom>
          <a:solidFill>
            <a:srgbClr val="11283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13239750" y="2095500"/>
            <a:ext cx="6096000" cy="6096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143000" y="3093595"/>
            <a:ext cx="399942" cy="9525"/>
          </a:xfrm>
          <a:prstGeom prst="rect">
            <a:avLst/>
          </a:prstGeom>
          <a:solidFill>
            <a:srgbClr val="5B9AE0"/>
          </a:solidFill>
          <a:ln/>
        </p:spPr>
      </p:sp>
      <p:sp>
        <p:nvSpPr>
          <p:cNvPr id="5" name="Text 2"/>
          <p:cNvSpPr/>
          <p:nvPr/>
        </p:nvSpPr>
        <p:spPr>
          <a:xfrm>
            <a:off x="1695288" y="2990092"/>
            <a:ext cx="4386687" cy="2545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432" dirty="0">
                <a:solidFill>
                  <a:srgbClr val="5B9A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PITCH · ENGENHARIA DE DADOS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143000" y="3530338"/>
            <a:ext cx="10399395" cy="2614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0350" b="1" kern="0" spc="-310" dirty="0">
                <a:solidFill>
                  <a:srgbClr val="F3F8F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Bússola Pública</a:t>
            </a:r>
            <a:endParaRPr lang="en-US" sz="10350" dirty="0"/>
          </a:p>
        </p:txBody>
      </p:sp>
      <p:sp>
        <p:nvSpPr>
          <p:cNvPr id="7" name="Text 4"/>
          <p:cNvSpPr/>
          <p:nvPr/>
        </p:nvSpPr>
        <p:spPr>
          <a:xfrm>
            <a:off x="1143000" y="6468341"/>
            <a:ext cx="7456170" cy="866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9FB4C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Dados públicos dispersos, transformados em informação </a:t>
            </a:r>
            <a:r>
              <a:rPr lang="en-US" sz="2250" dirty="0">
                <a:solidFill>
                  <a:srgbClr val="CFE0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acessível e sempre atualizada</a:t>
            </a:r>
            <a:r>
              <a:rPr lang="en-US" sz="2250" dirty="0">
                <a:solidFill>
                  <a:srgbClr val="9FB4C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1143000" y="8645425"/>
            <a:ext cx="5640206" cy="202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215" dirty="0">
                <a:solidFill>
                  <a:srgbClr val="5E76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GRUPO</a:t>
            </a:r>
            <a:endParaRPr lang="en-US" sz="975" dirty="0"/>
          </a:p>
        </p:txBody>
      </p:sp>
      <p:sp>
        <p:nvSpPr>
          <p:cNvPr id="9" name="Shape 6"/>
          <p:cNvSpPr/>
          <p:nvPr/>
        </p:nvSpPr>
        <p:spPr>
          <a:xfrm>
            <a:off x="1143000" y="8943217"/>
            <a:ext cx="1027455" cy="429437"/>
          </a:xfrm>
          <a:prstGeom prst="roundRect">
            <a:avLst>
              <a:gd name="adj" fmla="val 50000"/>
            </a:avLst>
          </a:prstGeom>
          <a:ln w="8659">
            <a:solidFill>
              <a:srgbClr val="78A0D2">
                <a:alpha val="22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323109" y="9028076"/>
            <a:ext cx="743437" cy="2978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DCE7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Andley</a:t>
            </a:r>
            <a:endParaRPr lang="en-US" sz="1575" dirty="0"/>
          </a:p>
        </p:txBody>
      </p:sp>
      <p:sp>
        <p:nvSpPr>
          <p:cNvPr id="11" name="Shape 8"/>
          <p:cNvSpPr/>
          <p:nvPr/>
        </p:nvSpPr>
        <p:spPr>
          <a:xfrm>
            <a:off x="2303724" y="8943217"/>
            <a:ext cx="912316" cy="429437"/>
          </a:xfrm>
          <a:prstGeom prst="roundRect">
            <a:avLst>
              <a:gd name="adj" fmla="val 50000"/>
            </a:avLst>
          </a:prstGeom>
          <a:ln w="8659">
            <a:solidFill>
              <a:srgbClr val="78A0D2">
                <a:alpha val="22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483833" y="9028076"/>
            <a:ext cx="628298" cy="2978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DCE7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Diego</a:t>
            </a:r>
            <a:endParaRPr lang="en-US" sz="1575" dirty="0"/>
          </a:p>
        </p:txBody>
      </p:sp>
      <p:sp>
        <p:nvSpPr>
          <p:cNvPr id="13" name="Shape 10"/>
          <p:cNvSpPr/>
          <p:nvPr/>
        </p:nvSpPr>
        <p:spPr>
          <a:xfrm>
            <a:off x="3349309" y="8943217"/>
            <a:ext cx="1027861" cy="429437"/>
          </a:xfrm>
          <a:prstGeom prst="roundRect">
            <a:avLst>
              <a:gd name="adj" fmla="val 50000"/>
            </a:avLst>
          </a:prstGeom>
          <a:ln w="8659">
            <a:solidFill>
              <a:srgbClr val="78A0D2">
                <a:alpha val="22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529418" y="9028076"/>
            <a:ext cx="743843" cy="2978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DCE7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Gabriel</a:t>
            </a:r>
            <a:endParaRPr lang="en-US" sz="1575" dirty="0"/>
          </a:p>
        </p:txBody>
      </p:sp>
      <p:sp>
        <p:nvSpPr>
          <p:cNvPr id="15" name="Shape 12"/>
          <p:cNvSpPr/>
          <p:nvPr/>
        </p:nvSpPr>
        <p:spPr>
          <a:xfrm>
            <a:off x="4510439" y="8943217"/>
            <a:ext cx="961430" cy="429437"/>
          </a:xfrm>
          <a:prstGeom prst="roundRect">
            <a:avLst>
              <a:gd name="adj" fmla="val 50000"/>
            </a:avLst>
          </a:prstGeom>
          <a:ln w="8659">
            <a:solidFill>
              <a:srgbClr val="78A0D2">
                <a:alpha val="22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90548" y="9028076"/>
            <a:ext cx="677412" cy="2978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DCE7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Rafael</a:t>
            </a:r>
            <a:endParaRPr lang="en-US" sz="1575" dirty="0"/>
          </a:p>
        </p:txBody>
      </p:sp>
      <p:sp>
        <p:nvSpPr>
          <p:cNvPr id="17" name="Shape 14"/>
          <p:cNvSpPr/>
          <p:nvPr/>
        </p:nvSpPr>
        <p:spPr>
          <a:xfrm>
            <a:off x="5605138" y="8943217"/>
            <a:ext cx="1013790" cy="429437"/>
          </a:xfrm>
          <a:prstGeom prst="roundRect">
            <a:avLst>
              <a:gd name="adj" fmla="val 50000"/>
            </a:avLst>
          </a:prstGeom>
          <a:ln w="8659">
            <a:solidFill>
              <a:srgbClr val="78A0D2">
                <a:alpha val="22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785247" y="9028076"/>
            <a:ext cx="729772" cy="2978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DCE7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Thiago</a:t>
            </a:r>
            <a:endParaRPr lang="en-US" sz="1575" dirty="0"/>
          </a:p>
        </p:txBody>
      </p:sp>
      <p:sp>
        <p:nvSpPr>
          <p:cNvPr id="19" name="Text 16"/>
          <p:cNvSpPr/>
          <p:nvPr/>
        </p:nvSpPr>
        <p:spPr>
          <a:xfrm>
            <a:off x="14691338" y="8854732"/>
            <a:ext cx="2453662" cy="556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70000"/>
              </a:lnSpc>
              <a:buNone/>
            </a:pPr>
            <a:r>
              <a:rPr lang="en-US" sz="1200" dirty="0">
                <a:solidFill>
                  <a:srgbClr val="8AA0B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Pós em Engenharia de Dados </a:t>
            </a:r>
            <a:r>
              <a:rPr lang="en-US" sz="1200" dirty="0">
                <a:solidFill>
                  <a:srgbClr val="5E76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Junho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99" cy="10287000"/>
          </a:xfrm>
          <a:prstGeom prst="rect">
            <a:avLst/>
          </a:prstGeom>
          <a:solidFill>
            <a:srgbClr val="0C1A2C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" y="975365"/>
            <a:ext cx="323769" cy="9525"/>
          </a:xfrm>
          <a:prstGeom prst="rect">
            <a:avLst/>
          </a:prstGeom>
          <a:solidFill>
            <a:srgbClr val="5B9AE0"/>
          </a:solidFill>
          <a:ln/>
        </p:spPr>
      </p:sp>
      <p:sp>
        <p:nvSpPr>
          <p:cNvPr id="4" name="Text 2"/>
          <p:cNvSpPr/>
          <p:nvPr/>
        </p:nvSpPr>
        <p:spPr>
          <a:xfrm>
            <a:off x="1600038" y="876192"/>
            <a:ext cx="2262214" cy="2459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383" dirty="0">
                <a:solidFill>
                  <a:srgbClr val="5B9A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— O PROBLEMA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1143000" y="1331606"/>
            <a:ext cx="11576685" cy="1289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650" b="1" kern="0" spc="-93" dirty="0">
                <a:solidFill>
                  <a:srgbClr val="F3F8F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Os dados públicos existem. Encontrá-los e cruzá-los, não.</a:t>
            </a:r>
            <a:endParaRPr lang="en-US" sz="4650" dirty="0"/>
          </a:p>
        </p:txBody>
      </p:sp>
      <p:sp>
        <p:nvSpPr>
          <p:cNvPr id="6" name="Shape 4"/>
          <p:cNvSpPr/>
          <p:nvPr/>
        </p:nvSpPr>
        <p:spPr>
          <a:xfrm>
            <a:off x="1143000" y="3192904"/>
            <a:ext cx="5181654" cy="1952760"/>
          </a:xfrm>
          <a:prstGeom prst="roundRect">
            <a:avLst>
              <a:gd name="adj" fmla="val 7804"/>
            </a:avLst>
          </a:prstGeom>
          <a:solidFill>
            <a:srgbClr val="FFFFFF">
              <a:alpha val="2000"/>
            </a:srgbClr>
          </a:solidFill>
          <a:ln w="8659">
            <a:solidFill>
              <a:srgbClr val="78A0D2">
                <a:alpha val="16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56351" y="3525332"/>
            <a:ext cx="469160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5B9A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1456351" y="3887255"/>
            <a:ext cx="4691601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75" dirty="0">
                <a:solidFill>
                  <a:srgbClr val="E6EE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Dispersão total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1456351" y="4299103"/>
            <a:ext cx="4691601" cy="552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90A6C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Espalhados em dezenas de portais, cada um com seu próprio formato.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3173" y="3192904"/>
            <a:ext cx="5181654" cy="1952760"/>
          </a:xfrm>
          <a:prstGeom prst="roundRect">
            <a:avLst>
              <a:gd name="adj" fmla="val 7804"/>
            </a:avLst>
          </a:prstGeom>
          <a:solidFill>
            <a:srgbClr val="FFFFFF">
              <a:alpha val="2000"/>
            </a:srgbClr>
          </a:solidFill>
          <a:ln w="8659">
            <a:solidFill>
              <a:srgbClr val="78A0D2">
                <a:alpha val="16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66523" y="3525332"/>
            <a:ext cx="469160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5B9A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6866523" y="3887255"/>
            <a:ext cx="4691601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75" dirty="0">
                <a:solidFill>
                  <a:srgbClr val="E6EE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Defasagem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6866523" y="4299103"/>
            <a:ext cx="4691601" cy="552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90A6C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Atualização manual e dados que envelhecem rápido demais.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1963345" y="3192904"/>
            <a:ext cx="5181654" cy="1952760"/>
          </a:xfrm>
          <a:prstGeom prst="roundRect">
            <a:avLst>
              <a:gd name="adj" fmla="val 7804"/>
            </a:avLst>
          </a:prstGeom>
          <a:solidFill>
            <a:srgbClr val="FFFFFF">
              <a:alpha val="2000"/>
            </a:srgbClr>
          </a:solidFill>
          <a:ln w="8659">
            <a:solidFill>
              <a:srgbClr val="78A0D2">
                <a:alpha val="16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276696" y="3525332"/>
            <a:ext cx="469160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5B9A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12276696" y="3887255"/>
            <a:ext cx="4691601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75" dirty="0">
                <a:solidFill>
                  <a:srgbClr val="E6EE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Trabalho técnico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12276696" y="4299103"/>
            <a:ext cx="4691601" cy="552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90A6C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Cruzar informação exige horas de coleta e tratamento manual.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1143000" y="8504986"/>
            <a:ext cx="16002000" cy="9525"/>
          </a:xfrm>
          <a:prstGeom prst="rect">
            <a:avLst/>
          </a:prstGeom>
          <a:solidFill>
            <a:srgbClr val="78A0D2">
              <a:alpha val="1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9022773"/>
            <a:ext cx="1042095" cy="202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76" dirty="0">
                <a:solidFill>
                  <a:srgbClr val="5E76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QUEM SOFRE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2242163" y="8970818"/>
            <a:ext cx="4284817" cy="306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DCE7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Cidadãos · Jornalistas · Gestores públicos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1567057" y="9005454"/>
            <a:ext cx="5745281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7D93A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múltiplos portais · formatos inconsistentes · dados defasados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99" cy="10287000"/>
          </a:xfrm>
          <a:prstGeom prst="rect">
            <a:avLst/>
          </a:prstGeom>
          <a:solidFill>
            <a:srgbClr val="0C1A2C"/>
          </a:solidFill>
          <a:ln/>
        </p:spPr>
      </p:sp>
      <p:sp>
        <p:nvSpPr>
          <p:cNvPr id="3" name="Shape 1"/>
          <p:cNvSpPr/>
          <p:nvPr/>
        </p:nvSpPr>
        <p:spPr>
          <a:xfrm>
            <a:off x="1047750" y="975365"/>
            <a:ext cx="323769" cy="9525"/>
          </a:xfrm>
          <a:prstGeom prst="rect">
            <a:avLst/>
          </a:prstGeom>
          <a:solidFill>
            <a:srgbClr val="5B9AE0"/>
          </a:solidFill>
          <a:ln/>
        </p:spPr>
      </p:sp>
      <p:sp>
        <p:nvSpPr>
          <p:cNvPr id="4" name="Text 2"/>
          <p:cNvSpPr/>
          <p:nvPr/>
        </p:nvSpPr>
        <p:spPr>
          <a:xfrm>
            <a:off x="1504788" y="876192"/>
            <a:ext cx="2116498" cy="2459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383" dirty="0">
                <a:solidFill>
                  <a:srgbClr val="5B9A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— A SOLUÇÃO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1047750" y="1312529"/>
            <a:ext cx="12557760" cy="1019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3450" b="1" kern="0" spc="-52" dirty="0">
                <a:solidFill>
                  <a:srgbClr val="F3F8F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Um pipeline automatizado que unifica várias fontes públicas em </a:t>
            </a:r>
            <a:r>
              <a:rPr lang="en-US" sz="3450" b="1" kern="0" spc="-52" dirty="0">
                <a:solidFill>
                  <a:srgbClr val="8FC0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uma base única e sempre atualizada</a:t>
            </a:r>
            <a:r>
              <a:rPr lang="en-US" sz="3450" b="1" kern="0" spc="-52" dirty="0">
                <a:solidFill>
                  <a:srgbClr val="F3F8F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3450" dirty="0"/>
          </a:p>
        </p:txBody>
      </p:sp>
      <p:sp>
        <p:nvSpPr>
          <p:cNvPr id="6" name="Shape 4"/>
          <p:cNvSpPr/>
          <p:nvPr/>
        </p:nvSpPr>
        <p:spPr>
          <a:xfrm>
            <a:off x="1047750" y="2750885"/>
            <a:ext cx="5814850" cy="483015"/>
          </a:xfrm>
          <a:prstGeom prst="roundRect">
            <a:avLst>
              <a:gd name="adj" fmla="val 23664"/>
            </a:avLst>
          </a:prstGeom>
          <a:solidFill>
            <a:srgbClr val="5B9AE0">
              <a:alpha val="8000"/>
            </a:srgbClr>
          </a:solidFill>
          <a:ln w="8659">
            <a:solidFill>
              <a:srgbClr val="5B9AE0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4928" y="2949503"/>
            <a:ext cx="85644" cy="85644"/>
          </a:xfrm>
          <a:prstGeom prst="ellipse">
            <a:avLst/>
          </a:prstGeom>
          <a:solidFill>
            <a:srgbClr val="5B9AE0"/>
          </a:solidFill>
          <a:ln/>
          <a:effectLst>
            <a:outerShdw blurRad="101600" dist="50800" dir="16200000" algn="bl" rotWithShape="0">
              <a:srgbClr val="5B9AE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522918" y="2892813"/>
            <a:ext cx="5255579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CFE0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Pipeline automatizado que roda uma vez na semana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47750" y="3538592"/>
            <a:ext cx="3662390" cy="2203468"/>
          </a:xfrm>
          <a:prstGeom prst="roundRect">
            <a:avLst>
              <a:gd name="adj" fmla="val 6916"/>
            </a:avLst>
          </a:prstGeom>
          <a:solidFill>
            <a:srgbClr val="FFFFFF">
              <a:alpha val="3000"/>
            </a:srgbClr>
          </a:solidFill>
          <a:ln w="8659">
            <a:solidFill>
              <a:srgbClr val="78A0D2">
                <a:alpha val="18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04005" y="3833001"/>
            <a:ext cx="3244376" cy="211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5B9A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ETAPA 01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304005" y="4139451"/>
            <a:ext cx="3244376" cy="375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0F6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Extração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304005" y="4629502"/>
            <a:ext cx="3244376" cy="523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90A6C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Portais de transparência, APIs gov e arquivos CSV.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4672040" y="3538592"/>
            <a:ext cx="590469" cy="22415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5B9A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5224408" y="3538592"/>
            <a:ext cx="3662525" cy="2203468"/>
          </a:xfrm>
          <a:prstGeom prst="roundRect">
            <a:avLst>
              <a:gd name="adj" fmla="val 6916"/>
            </a:avLst>
          </a:prstGeom>
          <a:solidFill>
            <a:srgbClr val="FFFFFF">
              <a:alpha val="3000"/>
            </a:srgbClr>
          </a:solidFill>
          <a:ln w="8659">
            <a:solidFill>
              <a:srgbClr val="78A0D2">
                <a:alpha val="1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0663" y="3833001"/>
            <a:ext cx="3244515" cy="211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5B9A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ETAPA 02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0663" y="4139451"/>
            <a:ext cx="3244515" cy="375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0F6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Transformação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5480663" y="4629502"/>
            <a:ext cx="3244515" cy="523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90A6C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Limpeza, padronização e enriquecimento dos dados.</a:t>
            </a:r>
            <a:endParaRPr lang="en-US" sz="1275" dirty="0"/>
          </a:p>
        </p:txBody>
      </p:sp>
      <p:sp>
        <p:nvSpPr>
          <p:cNvPr id="18" name="Shape 16"/>
          <p:cNvSpPr/>
          <p:nvPr/>
        </p:nvSpPr>
        <p:spPr>
          <a:xfrm>
            <a:off x="5480663" y="5218184"/>
            <a:ext cx="1409673" cy="268432"/>
          </a:xfrm>
          <a:prstGeom prst="roundRect">
            <a:avLst>
              <a:gd name="adj" fmla="val 21290"/>
            </a:avLst>
          </a:prstGeom>
          <a:solidFill>
            <a:srgbClr val="5B9AE0">
              <a:alpha val="1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585438" y="5265809"/>
            <a:ext cx="1276323" cy="211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7FA8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· pandas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848833" y="3538592"/>
            <a:ext cx="590469" cy="22415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5B9A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9401202" y="3538592"/>
            <a:ext cx="3662390" cy="2203468"/>
          </a:xfrm>
          <a:prstGeom prst="roundRect">
            <a:avLst>
              <a:gd name="adj" fmla="val 6916"/>
            </a:avLst>
          </a:prstGeom>
          <a:solidFill>
            <a:srgbClr val="FFFFFF">
              <a:alpha val="3000"/>
            </a:srgbClr>
          </a:solidFill>
          <a:ln w="8659">
            <a:solidFill>
              <a:srgbClr val="78A0D2">
                <a:alpha val="18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57456" y="3833001"/>
            <a:ext cx="3244376" cy="211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5B9A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ETAPA 03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657456" y="4139451"/>
            <a:ext cx="3244376" cy="375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0F6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Carga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9657456" y="4629502"/>
            <a:ext cx="3244376" cy="523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90A6C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Gravação estruturada em base relacional única.</a:t>
            </a:r>
            <a:endParaRPr lang="en-US" sz="1275" dirty="0"/>
          </a:p>
        </p:txBody>
      </p:sp>
      <p:sp>
        <p:nvSpPr>
          <p:cNvPr id="25" name="Shape 23"/>
          <p:cNvSpPr/>
          <p:nvPr/>
        </p:nvSpPr>
        <p:spPr>
          <a:xfrm>
            <a:off x="9657456" y="5218184"/>
            <a:ext cx="2043004" cy="268432"/>
          </a:xfrm>
          <a:prstGeom prst="roundRect">
            <a:avLst>
              <a:gd name="adj" fmla="val 21290"/>
            </a:avLst>
          </a:prstGeom>
          <a:solidFill>
            <a:srgbClr val="5B9AE0">
              <a:alpha val="1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9762231" y="5265809"/>
            <a:ext cx="1909654" cy="211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7FA8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SQLAlchemy → PostgreSQL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3025491" y="3538592"/>
            <a:ext cx="590469" cy="22415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5B9A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2250" dirty="0"/>
          </a:p>
        </p:txBody>
      </p:sp>
      <p:sp>
        <p:nvSpPr>
          <p:cNvPr id="28" name="Shape 26"/>
          <p:cNvSpPr/>
          <p:nvPr/>
        </p:nvSpPr>
        <p:spPr>
          <a:xfrm>
            <a:off x="13577860" y="3538592"/>
            <a:ext cx="3662390" cy="2203468"/>
          </a:xfrm>
          <a:prstGeom prst="roundRect">
            <a:avLst>
              <a:gd name="adj" fmla="val 6916"/>
            </a:avLst>
          </a:prstGeom>
          <a:solidFill>
            <a:srgbClr val="FFFFFF">
              <a:alpha val="3000"/>
            </a:srgbClr>
          </a:solidFill>
          <a:ln w="8659">
            <a:solidFill>
              <a:srgbClr val="78A0D2">
                <a:alpha val="18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834115" y="3833001"/>
            <a:ext cx="3244376" cy="211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5B9A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ETAPA 04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3834115" y="4139451"/>
            <a:ext cx="3244376" cy="375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0F6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Relatório executivo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13834115" y="4629502"/>
            <a:ext cx="3244376" cy="523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90A6C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Síntese dos dados em relatório executivo de leitura rápida.</a:t>
            </a:r>
            <a:endParaRPr lang="en-US" sz="1275" dirty="0"/>
          </a:p>
        </p:txBody>
      </p:sp>
      <p:sp>
        <p:nvSpPr>
          <p:cNvPr id="32" name="Shape 30"/>
          <p:cNvSpPr/>
          <p:nvPr/>
        </p:nvSpPr>
        <p:spPr>
          <a:xfrm>
            <a:off x="13834115" y="5218184"/>
            <a:ext cx="1809750" cy="268432"/>
          </a:xfrm>
          <a:prstGeom prst="roundRect">
            <a:avLst>
              <a:gd name="adj" fmla="val 21290"/>
            </a:avLst>
          </a:prstGeom>
          <a:solidFill>
            <a:srgbClr val="5B9AE0">
              <a:alpha val="1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13938890" y="5265809"/>
            <a:ext cx="1676400" cy="211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7FA8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Relatório · Telegram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047750" y="9096374"/>
            <a:ext cx="1165892" cy="202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95" dirty="0">
                <a:solidFill>
                  <a:srgbClr val="5E76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DIFERENCIAL</a:t>
            </a:r>
            <a:endParaRPr lang="en-US" sz="975" dirty="0"/>
          </a:p>
        </p:txBody>
      </p:sp>
      <p:sp>
        <p:nvSpPr>
          <p:cNvPr id="35" name="Text 33"/>
          <p:cNvSpPr/>
          <p:nvPr/>
        </p:nvSpPr>
        <p:spPr>
          <a:xfrm>
            <a:off x="2308865" y="9022773"/>
            <a:ext cx="9071459" cy="349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EAF1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Dados unificados e atualizados automaticamente — </a:t>
            </a:r>
            <a:r>
              <a:rPr lang="en-US" sz="1950" dirty="0">
                <a:solidFill>
                  <a:srgbClr val="8FC0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sem trabalho manual</a:t>
            </a:r>
            <a:r>
              <a:rPr lang="en-US" sz="1950" dirty="0">
                <a:solidFill>
                  <a:srgbClr val="EAF1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99" cy="10287000"/>
          </a:xfrm>
          <a:prstGeom prst="rect">
            <a:avLst/>
          </a:prstGeom>
          <a:solidFill>
            <a:srgbClr val="0C1A2C"/>
          </a:solidFill>
          <a:ln/>
        </p:spPr>
      </p:sp>
      <p:sp>
        <p:nvSpPr>
          <p:cNvPr id="3" name="Shape 1"/>
          <p:cNvSpPr/>
          <p:nvPr/>
        </p:nvSpPr>
        <p:spPr>
          <a:xfrm>
            <a:off x="1047750" y="975365"/>
            <a:ext cx="323769" cy="9525"/>
          </a:xfrm>
          <a:prstGeom prst="rect">
            <a:avLst/>
          </a:prstGeom>
          <a:solidFill>
            <a:srgbClr val="5B9AE0"/>
          </a:solidFill>
          <a:ln/>
        </p:spPr>
      </p:sp>
      <p:sp>
        <p:nvSpPr>
          <p:cNvPr id="4" name="Text 2"/>
          <p:cNvSpPr/>
          <p:nvPr/>
        </p:nvSpPr>
        <p:spPr>
          <a:xfrm>
            <a:off x="1504788" y="876192"/>
            <a:ext cx="3152261" cy="2459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383" dirty="0">
                <a:solidFill>
                  <a:srgbClr val="5B9A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— DEMO / RESULTADO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1047750" y="1293452"/>
            <a:ext cx="6308284" cy="5180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 kern="0" spc="-72" dirty="0">
                <a:solidFill>
                  <a:srgbClr val="F3F8F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Funcionando, ponta a ponta.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1047750" y="2230528"/>
            <a:ext cx="5245109" cy="3933798"/>
          </a:xfrm>
          <a:prstGeom prst="roundRect">
            <a:avLst>
              <a:gd name="adj" fmla="val 3390"/>
            </a:avLst>
          </a:prstGeom>
          <a:solidFill>
            <a:srgbClr val="0A141F"/>
          </a:solidFill>
          <a:ln w="8659">
            <a:solidFill>
              <a:srgbClr val="78A0D2">
                <a:alpha val="22000"/>
              </a:srgbClr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56409" y="2239187"/>
            <a:ext cx="5227791" cy="3916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47750" y="6297594"/>
            <a:ext cx="5402462" cy="280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DCE7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Banco populado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521378" y="2230528"/>
            <a:ext cx="5245109" cy="3933798"/>
          </a:xfrm>
          <a:prstGeom prst="roundRect">
            <a:avLst>
              <a:gd name="adj" fmla="val 3390"/>
            </a:avLst>
          </a:prstGeom>
          <a:solidFill>
            <a:srgbClr val="0A141F"/>
          </a:solidFill>
          <a:ln w="8659">
            <a:solidFill>
              <a:srgbClr val="78A0D2">
                <a:alpha val="22000"/>
              </a:srgbClr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l="13424" r="13424"/>
          <a:stretch/>
        </p:blipFill>
        <p:spPr>
          <a:xfrm>
            <a:off x="6530037" y="2239187"/>
            <a:ext cx="5227791" cy="3916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21378" y="6297594"/>
            <a:ext cx="5402462" cy="280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DCE7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Relatório no Telegram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11995005" y="2230528"/>
            <a:ext cx="5245109" cy="3933798"/>
          </a:xfrm>
          <a:prstGeom prst="roundRect">
            <a:avLst>
              <a:gd name="adj" fmla="val 3390"/>
            </a:avLst>
          </a:prstGeom>
          <a:solidFill>
            <a:srgbClr val="0A141F"/>
          </a:solidFill>
          <a:ln w="8659">
            <a:solidFill>
              <a:srgbClr val="78A0D2">
                <a:alpha val="22000"/>
              </a:srgbClr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 l="16087" r="16087"/>
          <a:stretch/>
        </p:blipFill>
        <p:spPr>
          <a:xfrm>
            <a:off x="12003664" y="2239187"/>
            <a:ext cx="5227791" cy="3916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995005" y="6297594"/>
            <a:ext cx="5402462" cy="280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DCE7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Fluxo no n8n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1047750" y="8040913"/>
            <a:ext cx="16192500" cy="9525"/>
          </a:xfrm>
          <a:prstGeom prst="rect">
            <a:avLst/>
          </a:prstGeom>
          <a:solidFill>
            <a:srgbClr val="78A0D2">
              <a:alpha val="14000"/>
            </a:srgbClr>
          </a:solidFill>
          <a:ln/>
        </p:spPr>
      </p:sp>
      <p:sp>
        <p:nvSpPr>
          <p:cNvPr id="16" name="Text 11"/>
          <p:cNvSpPr/>
          <p:nvPr/>
        </p:nvSpPr>
        <p:spPr>
          <a:xfrm>
            <a:off x="1047750" y="8468591"/>
            <a:ext cx="5559378" cy="6477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b="1" kern="0" spc="-96" dirty="0">
                <a:solidFill>
                  <a:srgbClr val="8FC0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4800" dirty="0"/>
          </a:p>
        </p:txBody>
      </p:sp>
      <p:sp>
        <p:nvSpPr>
          <p:cNvPr id="17" name="Text 12"/>
          <p:cNvSpPr/>
          <p:nvPr/>
        </p:nvSpPr>
        <p:spPr>
          <a:xfrm>
            <a:off x="1047750" y="9173495"/>
            <a:ext cx="5559378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8AA0B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fontes integradas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445205" y="8468591"/>
            <a:ext cx="9525" cy="904063"/>
          </a:xfrm>
          <a:prstGeom prst="rect">
            <a:avLst/>
          </a:prstGeom>
          <a:solidFill>
            <a:srgbClr val="78A0D2">
              <a:alpha val="14000"/>
            </a:srgbClr>
          </a:solidFill>
          <a:ln/>
        </p:spPr>
      </p:sp>
      <p:sp>
        <p:nvSpPr>
          <p:cNvPr id="19" name="Text 14"/>
          <p:cNvSpPr/>
          <p:nvPr/>
        </p:nvSpPr>
        <p:spPr>
          <a:xfrm>
            <a:off x="6911037" y="8468591"/>
            <a:ext cx="5079572" cy="6477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b="1" kern="0" spc="-96" dirty="0">
                <a:solidFill>
                  <a:srgbClr val="8FC0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400k+</a:t>
            </a:r>
            <a:endParaRPr lang="en-US" sz="4800" dirty="0"/>
          </a:p>
        </p:txBody>
      </p:sp>
      <p:sp>
        <p:nvSpPr>
          <p:cNvPr id="20" name="Text 15"/>
          <p:cNvSpPr/>
          <p:nvPr/>
        </p:nvSpPr>
        <p:spPr>
          <a:xfrm>
            <a:off x="6911037" y="9173495"/>
            <a:ext cx="507957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8AA0B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registros processados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11842660" y="8468591"/>
            <a:ext cx="9525" cy="904063"/>
          </a:xfrm>
          <a:prstGeom prst="rect">
            <a:avLst/>
          </a:prstGeom>
          <a:solidFill>
            <a:srgbClr val="78A0D2">
              <a:alpha val="14000"/>
            </a:srgbClr>
          </a:solidFill>
          <a:ln/>
        </p:spPr>
      </p:sp>
      <p:sp>
        <p:nvSpPr>
          <p:cNvPr id="22" name="Text 17"/>
          <p:cNvSpPr/>
          <p:nvPr/>
        </p:nvSpPr>
        <p:spPr>
          <a:xfrm>
            <a:off x="12308492" y="8468591"/>
            <a:ext cx="5079572" cy="6477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b="1" kern="0" spc="-96" dirty="0">
                <a:solidFill>
                  <a:srgbClr val="8FC0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Semanal</a:t>
            </a:r>
            <a:endParaRPr lang="en-US" sz="4800" dirty="0"/>
          </a:p>
        </p:txBody>
      </p:sp>
      <p:sp>
        <p:nvSpPr>
          <p:cNvPr id="23" name="Text 18"/>
          <p:cNvSpPr/>
          <p:nvPr/>
        </p:nvSpPr>
        <p:spPr>
          <a:xfrm>
            <a:off x="12308492" y="9173495"/>
            <a:ext cx="507957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8AA0B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ciclo de atualização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99" cy="10287000"/>
          </a:xfrm>
          <a:prstGeom prst="rect">
            <a:avLst/>
          </a:prstGeom>
          <a:solidFill>
            <a:srgbClr val="0C1A2C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" y="975365"/>
            <a:ext cx="323769" cy="9525"/>
          </a:xfrm>
          <a:prstGeom prst="rect">
            <a:avLst/>
          </a:prstGeom>
          <a:solidFill>
            <a:srgbClr val="5B9AE0"/>
          </a:solidFill>
          <a:ln/>
        </p:spPr>
      </p:sp>
      <p:sp>
        <p:nvSpPr>
          <p:cNvPr id="4" name="Text 2"/>
          <p:cNvSpPr/>
          <p:nvPr/>
        </p:nvSpPr>
        <p:spPr>
          <a:xfrm>
            <a:off x="1600038" y="876192"/>
            <a:ext cx="3002173" cy="2459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383" dirty="0">
                <a:solidFill>
                  <a:srgbClr val="5B9A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— PRÓXIMOS PASSOS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1143000" y="1312529"/>
            <a:ext cx="16482060" cy="6033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200" b="1" kern="0" spc="-84" dirty="0">
                <a:solidFill>
                  <a:srgbClr val="F3F8F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Para onde a bússola aponta.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1143000" y="3703114"/>
            <a:ext cx="16002000" cy="9525"/>
          </a:xfrm>
          <a:prstGeom prst="rect">
            <a:avLst/>
          </a:prstGeom>
          <a:solidFill>
            <a:srgbClr val="78A0D2">
              <a:alpha val="1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620755"/>
            <a:ext cx="495219" cy="254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9A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885788" y="2544555"/>
            <a:ext cx="5229520" cy="4537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0F6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Novas fontes de dados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885788" y="3055441"/>
            <a:ext cx="522952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dirty="0">
                <a:solidFill>
                  <a:srgbClr val="90A6C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Ampliar a cobertura para mais portais e esferas de governo.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143000" y="5232256"/>
            <a:ext cx="16002000" cy="9525"/>
          </a:xfrm>
          <a:prstGeom prst="rect">
            <a:avLst/>
          </a:prstGeom>
          <a:solidFill>
            <a:srgbClr val="78A0D2">
              <a:alpha val="1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4149896"/>
            <a:ext cx="495219" cy="254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9A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885788" y="4073696"/>
            <a:ext cx="6327376" cy="4537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0F6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Alertas automáticos &amp; API pública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1885788" y="4584583"/>
            <a:ext cx="632737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dirty="0">
                <a:solidFill>
                  <a:srgbClr val="90A6C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Notificar mudanças relevantes e abrir os dados para reuso por terceiros.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43000" y="5679038"/>
            <a:ext cx="495219" cy="254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9A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885788" y="5602838"/>
            <a:ext cx="6477464" cy="4537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0F6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Monitoramento de qualidade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885788" y="6113724"/>
            <a:ext cx="647746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dirty="0">
                <a:solidFill>
                  <a:srgbClr val="90A6C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Validar integridade e consistência dos dados a cada execução do pipeline.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99" cy="10287000"/>
          </a:xfrm>
          <a:prstGeom prst="rect">
            <a:avLst/>
          </a:prstGeom>
          <a:solidFill>
            <a:srgbClr val="11283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>
            <a:off x="13906500" y="-571500"/>
            <a:ext cx="4953000" cy="4953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143000" y="3062612"/>
            <a:ext cx="323769" cy="9525"/>
          </a:xfrm>
          <a:prstGeom prst="rect">
            <a:avLst/>
          </a:prstGeom>
          <a:solidFill>
            <a:srgbClr val="5B9AE0"/>
          </a:solidFill>
          <a:ln/>
        </p:spPr>
      </p:sp>
      <p:sp>
        <p:nvSpPr>
          <p:cNvPr id="5" name="Text 2"/>
          <p:cNvSpPr/>
          <p:nvPr/>
        </p:nvSpPr>
        <p:spPr>
          <a:xfrm>
            <a:off x="1600038" y="2963439"/>
            <a:ext cx="3002173" cy="2459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383" dirty="0">
                <a:solidFill>
                  <a:srgbClr val="5B9A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— IMPACTO / VISÃO</a:t>
            </a:r>
            <a:endParaRPr lang="en-US" sz="1275" dirty="0"/>
          </a:p>
        </p:txBody>
      </p:sp>
      <p:sp>
        <p:nvSpPr>
          <p:cNvPr id="6" name="Text 3"/>
          <p:cNvSpPr/>
          <p:nvPr/>
        </p:nvSpPr>
        <p:spPr>
          <a:xfrm>
            <a:off x="1143000" y="3457007"/>
            <a:ext cx="11576685" cy="15832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850" b="1" kern="0" spc="-146" dirty="0">
                <a:solidFill>
                  <a:srgbClr val="F3F8F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Transparência que cabe na palma da mão.</a:t>
            </a:r>
            <a:endParaRPr lang="en-US" sz="5850" dirty="0"/>
          </a:p>
        </p:txBody>
      </p:sp>
      <p:sp>
        <p:nvSpPr>
          <p:cNvPr id="7" name="Text 4"/>
          <p:cNvSpPr/>
          <p:nvPr/>
        </p:nvSpPr>
        <p:spPr>
          <a:xfrm>
            <a:off x="1143000" y="5344959"/>
            <a:ext cx="9025889" cy="809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25" dirty="0">
                <a:solidFill>
                  <a:srgbClr val="9FB4C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Dados públicos confiáveis e atualizados que fortalecem </a:t>
            </a:r>
            <a:r>
              <a:rPr lang="en-US" sz="2025" dirty="0">
                <a:solidFill>
                  <a:srgbClr val="CFE0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cidadãos mais informados </a:t>
            </a:r>
            <a:r>
              <a:rPr lang="en-US" sz="2025" dirty="0">
                <a:solidFill>
                  <a:srgbClr val="9FB4C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</a:t>
            </a:r>
            <a:r>
              <a:rPr lang="en-US" sz="2025" dirty="0">
                <a:solidFill>
                  <a:srgbClr val="CFE0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jornalismo de dados ágil </a:t>
            </a:r>
            <a:r>
              <a:rPr lang="en-US" sz="2025" dirty="0">
                <a:solidFill>
                  <a:srgbClr val="9FB4C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 </a:t>
            </a:r>
            <a:r>
              <a:rPr lang="en-US" sz="2025" dirty="0">
                <a:solidFill>
                  <a:srgbClr val="CFE0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gestão orientada por evidências</a:t>
            </a:r>
            <a:r>
              <a:rPr lang="en-US" sz="2025" dirty="0">
                <a:solidFill>
                  <a:srgbClr val="9FB4C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2025" dirty="0"/>
          </a:p>
        </p:txBody>
      </p:sp>
      <p:sp>
        <p:nvSpPr>
          <p:cNvPr id="8" name="Shape 5"/>
          <p:cNvSpPr/>
          <p:nvPr/>
        </p:nvSpPr>
        <p:spPr>
          <a:xfrm>
            <a:off x="1143000" y="6630699"/>
            <a:ext cx="8251302" cy="692727"/>
          </a:xfrm>
          <a:prstGeom prst="roundRect">
            <a:avLst>
              <a:gd name="adj" fmla="val 19250"/>
            </a:avLst>
          </a:prstGeom>
          <a:solidFill>
            <a:srgbClr val="5B9AE0">
              <a:alpha val="8000"/>
            </a:srgbClr>
          </a:solidFill>
          <a:ln w="8659">
            <a:solidFill>
              <a:srgbClr val="5B9AE0">
                <a:alpha val="28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418332" y="6890471"/>
            <a:ext cx="804375" cy="211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89" dirty="0">
                <a:solidFill>
                  <a:srgbClr val="7FA8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VISÃO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317930" y="6829858"/>
            <a:ext cx="7005070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EAF1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 um pipeline a uma plataforma pública de dados confiáveis.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540</Words>
  <Application>Microsoft Office PowerPoint</Application>
  <PresentationFormat>Personalizar</PresentationFormat>
  <Paragraphs>86</Paragraphs>
  <Slides>6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1" baseType="lpstr">
      <vt:lpstr>Arial</vt:lpstr>
      <vt:lpstr>IBM Plex Mono</vt:lpstr>
      <vt:lpstr>IBM Plex Sans</vt:lpstr>
      <vt:lpstr>Space Grotesk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Gabriel Gonçalves do Couto</cp:lastModifiedBy>
  <cp:revision>2</cp:revision>
  <dcterms:created xsi:type="dcterms:W3CDTF">2026-06-13T19:12:09Z</dcterms:created>
  <dcterms:modified xsi:type="dcterms:W3CDTF">2026-06-14T23:57:36Z</dcterms:modified>
</cp:coreProperties>
</file>